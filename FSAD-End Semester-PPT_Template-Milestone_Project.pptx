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9" r:id="rId12"/>
    <p:sldId id="267" r:id="rId13"/>
    <p:sldId id="268" r:id="rId14"/>
    <p:sldId id="272" r:id="rId15"/>
    <p:sldId id="271" r:id="rId16"/>
    <p:sldId id="270" r:id="rId17"/>
    <p:sldId id="265" r:id="rId18"/>
  </p:sldIdLst>
  <p:sldSz cx="18288000" cy="10287000"/>
  <p:notesSz cx="6858000" cy="9144000"/>
  <p:embeddedFontLst>
    <p:embeddedFont>
      <p:font typeface="Bookman Old Style" panose="02050604050505020204" pitchFamily="18" charset="0"/>
      <p:regular r:id="rId19"/>
      <p:bold r:id="rId20"/>
      <p:italic r:id="rId21"/>
      <p:boldItalic r:id="rId22"/>
    </p:embeddedFont>
    <p:embeddedFont>
      <p:font typeface="Cambria" panose="02040503050406030204" pitchFamily="18" charset="0"/>
      <p:regular r:id="rId23"/>
      <p:bold r:id="rId24"/>
      <p:italic r:id="rId25"/>
      <p:boldItalic r:id="rId26"/>
    </p:embeddedFont>
    <p:embeddedFont>
      <p:font typeface="Gotham" panose="020B0604020202020204" charset="0"/>
      <p:regular r:id="rId27"/>
    </p:embeddedFont>
    <p:embeddedFont>
      <p:font typeface="Gotham Bold Italics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34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-9965724" y="-1383136"/>
            <a:ext cx="10994424" cy="10994424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1194AAA3-5CF4-E695-04C9-0894FFF6F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9772" y="16492"/>
            <a:ext cx="4131816" cy="178462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B0EB85C-D9CE-08DC-1131-77C9DD1A002D}"/>
              </a:ext>
            </a:extLst>
          </p:cNvPr>
          <p:cNvSpPr txBox="1"/>
          <p:nvPr/>
        </p:nvSpPr>
        <p:spPr>
          <a:xfrm>
            <a:off x="1360002" y="1608482"/>
            <a:ext cx="15925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Vel Tech Rangarajan Dr. Sagunthala R&amp;D Institute of Science and Technology</a:t>
            </a:r>
          </a:p>
          <a:p>
            <a:pPr algn="ctr"/>
            <a:r>
              <a:rPr lang="en-US" sz="3600" b="1" dirty="0">
                <a:latin typeface="Cambria" panose="02040503050406030204" pitchFamily="18" charset="0"/>
                <a:ea typeface="Cambria" panose="02040503050406030204" pitchFamily="18" charset="0"/>
              </a:rPr>
              <a:t>School of Computing 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Department of Computer Science and Engineering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785AF5-58C8-2624-E1FD-4723B0683DE6}"/>
              </a:ext>
            </a:extLst>
          </p:cNvPr>
          <p:cNvSpPr txBox="1"/>
          <p:nvPr/>
        </p:nvSpPr>
        <p:spPr>
          <a:xfrm>
            <a:off x="1692835" y="3272357"/>
            <a:ext cx="152601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0033CC"/>
                </a:solidFill>
                <a:latin typeface="Bookman Old Style" panose="02050604050505020204" pitchFamily="18" charset="0"/>
              </a:rPr>
              <a:t>10211CS224 / FULL STACK APPLICATION DEVELOPMENT (JAVA)</a:t>
            </a:r>
            <a:endParaRPr lang="en-IN" sz="2800" b="1" dirty="0">
              <a:solidFill>
                <a:srgbClr val="0033CC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C53BF-3850-6683-E07F-D595EC8B02B2}"/>
              </a:ext>
            </a:extLst>
          </p:cNvPr>
          <p:cNvSpPr txBox="1"/>
          <p:nvPr/>
        </p:nvSpPr>
        <p:spPr>
          <a:xfrm>
            <a:off x="3727757" y="3897940"/>
            <a:ext cx="111902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 SEMESTER PROJECT REVIEW</a:t>
            </a:r>
          </a:p>
          <a:p>
            <a:pPr algn="ctr"/>
            <a:endParaRPr lang="en-IN" sz="36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Date: 06-05-2026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FE0DA2-4723-7C13-5FD7-FC99B0394DDD}"/>
              </a:ext>
            </a:extLst>
          </p:cNvPr>
          <p:cNvSpPr txBox="1"/>
          <p:nvPr/>
        </p:nvSpPr>
        <p:spPr>
          <a:xfrm>
            <a:off x="1501640" y="6057900"/>
            <a:ext cx="15784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033CC"/>
                </a:solidFill>
              </a:rPr>
              <a:t>TICKET BOOKING OF AN INTERNAL DEPARTMENT EVENT</a:t>
            </a:r>
            <a:endParaRPr lang="en-IN" sz="32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8EEF4A-EB43-B7D9-87FC-7C7D752BCA78}"/>
              </a:ext>
            </a:extLst>
          </p:cNvPr>
          <p:cNvSpPr txBox="1"/>
          <p:nvPr/>
        </p:nvSpPr>
        <p:spPr>
          <a:xfrm>
            <a:off x="893870" y="7800539"/>
            <a:ext cx="9067800" cy="1391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Presented By:</a:t>
            </a:r>
          </a:p>
          <a:p>
            <a:pPr>
              <a:lnSpc>
                <a:spcPct val="150000"/>
              </a:lnSpc>
            </a:pPr>
            <a:r>
              <a:rPr lang="en-IN" sz="3000" spc="-30" dirty="0">
                <a:latin typeface="Cambria"/>
                <a:cs typeface="Cambria"/>
              </a:rPr>
              <a:t>V SAI NAVADEEP KRISHNA</a:t>
            </a: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– VTU24596– 23UECS0600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32D1A-2F9C-AC53-CCBD-ABF748DF236F}"/>
              </a:ext>
            </a:extLst>
          </p:cNvPr>
          <p:cNvSpPr txBox="1"/>
          <p:nvPr/>
        </p:nvSpPr>
        <p:spPr>
          <a:xfrm>
            <a:off x="10945035" y="7818586"/>
            <a:ext cx="6914603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Courses Handling Faculty:</a:t>
            </a:r>
          </a:p>
          <a:p>
            <a:pPr>
              <a:lnSpc>
                <a:spcPct val="150000"/>
              </a:lnSpc>
            </a:pPr>
            <a:r>
              <a:rPr lang="en-IN" sz="3200" spc="-90" dirty="0">
                <a:cs typeface="Calibri"/>
              </a:rPr>
              <a:t>Dr.</a:t>
            </a:r>
            <a:r>
              <a:rPr lang="en-IN" sz="3200" spc="-75" dirty="0">
                <a:cs typeface="Calibri"/>
              </a:rPr>
              <a:t> </a:t>
            </a:r>
            <a:r>
              <a:rPr lang="en-IN" sz="3200" dirty="0">
                <a:cs typeface="Calibri"/>
              </a:rPr>
              <a:t>Hafizur</a:t>
            </a:r>
            <a:r>
              <a:rPr lang="en-IN" sz="3200" spc="-70" dirty="0">
                <a:cs typeface="Calibri"/>
              </a:rPr>
              <a:t> </a:t>
            </a:r>
            <a:r>
              <a:rPr lang="en-IN" sz="3200" dirty="0">
                <a:cs typeface="Calibri"/>
              </a:rPr>
              <a:t>Rahman</a:t>
            </a:r>
            <a:r>
              <a:rPr lang="en-IN" sz="3000" dirty="0">
                <a:latin typeface="Cambria"/>
                <a:cs typeface="Cambria"/>
              </a:rPr>
              <a:t>-</a:t>
            </a:r>
            <a:r>
              <a:rPr lang="en-IN" sz="3000" spc="545" dirty="0">
                <a:latin typeface="Cambria"/>
                <a:cs typeface="Cambria"/>
              </a:rPr>
              <a:t> </a:t>
            </a:r>
            <a:r>
              <a:rPr lang="en-IN" sz="3000" dirty="0">
                <a:latin typeface="Cambria"/>
                <a:cs typeface="Cambria"/>
              </a:rPr>
              <a:t>B.E.,</a:t>
            </a:r>
            <a:r>
              <a:rPr lang="en-IN" sz="3000" spc="-80" dirty="0">
                <a:latin typeface="Cambria"/>
                <a:cs typeface="Cambria"/>
              </a:rPr>
              <a:t> </a:t>
            </a:r>
            <a:r>
              <a:rPr lang="en-IN" sz="3000" spc="-25" dirty="0" err="1">
                <a:latin typeface="Cambria"/>
                <a:cs typeface="Cambria"/>
              </a:rPr>
              <a:t>M.Tech</a:t>
            </a:r>
            <a:r>
              <a:rPr lang="en-IN" sz="3000" spc="-25" dirty="0">
                <a:latin typeface="Cambria"/>
                <a:cs typeface="Cambria"/>
              </a:rPr>
              <a:t>.,</a:t>
            </a:r>
            <a:r>
              <a:rPr lang="en-IN" sz="3000" spc="-80" dirty="0">
                <a:latin typeface="Cambria"/>
                <a:cs typeface="Cambria"/>
              </a:rPr>
              <a:t> </a:t>
            </a:r>
            <a:r>
              <a:rPr lang="en-IN" sz="3000" spc="-10" dirty="0">
                <a:latin typeface="Cambria"/>
                <a:cs typeface="Cambria"/>
              </a:rPr>
              <a:t>Ph.D.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AA51DE-E8D7-A1B4-BC0D-B25C8A0C467A}"/>
              </a:ext>
            </a:extLst>
          </p:cNvPr>
          <p:cNvSpPr txBox="1"/>
          <p:nvPr/>
        </p:nvSpPr>
        <p:spPr>
          <a:xfrm>
            <a:off x="7336321" y="6652163"/>
            <a:ext cx="4114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/>
                <a:cs typeface="Times New Roman"/>
              </a:rPr>
              <a:t>SDG:–</a:t>
            </a:r>
            <a:r>
              <a:rPr lang="en-US" sz="2000" b="1" spc="-25" dirty="0">
                <a:latin typeface="Times New Roman"/>
                <a:cs typeface="Times New Roman"/>
              </a:rPr>
              <a:t> </a:t>
            </a:r>
            <a:r>
              <a:rPr lang="en-US" sz="2000" b="1" dirty="0">
                <a:latin typeface="Times New Roman"/>
                <a:cs typeface="Times New Roman"/>
              </a:rPr>
              <a:t>SDG</a:t>
            </a:r>
            <a:r>
              <a:rPr lang="en-US" sz="2000" b="1" spc="-10" dirty="0">
                <a:latin typeface="Times New Roman"/>
                <a:cs typeface="Times New Roman"/>
              </a:rPr>
              <a:t> </a:t>
            </a:r>
            <a:r>
              <a:rPr lang="en-US" sz="2000" b="1" dirty="0">
                <a:latin typeface="Times New Roman"/>
                <a:cs typeface="Times New Roman"/>
              </a:rPr>
              <a:t>4-</a:t>
            </a:r>
            <a:r>
              <a:rPr lang="en-US" sz="2000" b="1" spc="-30" dirty="0">
                <a:latin typeface="Times New Roman"/>
                <a:cs typeface="Times New Roman"/>
              </a:rPr>
              <a:t> </a:t>
            </a:r>
            <a:r>
              <a:rPr lang="en-US" sz="2000" b="1" dirty="0">
                <a:latin typeface="Times New Roman"/>
                <a:cs typeface="Times New Roman"/>
              </a:rPr>
              <a:t>Quality</a:t>
            </a:r>
            <a:r>
              <a:rPr lang="en-US" sz="2000" b="1" spc="-40" dirty="0">
                <a:latin typeface="Times New Roman"/>
                <a:cs typeface="Times New Roman"/>
              </a:rPr>
              <a:t> </a:t>
            </a:r>
            <a:r>
              <a:rPr lang="en-US" sz="2000" b="1" spc="-10" dirty="0">
                <a:latin typeface="Times New Roman"/>
                <a:cs typeface="Times New Roman"/>
              </a:rPr>
              <a:t>Education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706082" y="1952203"/>
            <a:ext cx="992463" cy="99246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 dirty="0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48235" y="4447339"/>
            <a:ext cx="508158" cy="543805"/>
            <a:chOff x="0" y="0"/>
            <a:chExt cx="812800" cy="86981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48235" y="3107362"/>
            <a:ext cx="508158" cy="543805"/>
            <a:chOff x="0" y="0"/>
            <a:chExt cx="812800" cy="8698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48235" y="5115753"/>
            <a:ext cx="508158" cy="543805"/>
            <a:chOff x="0" y="0"/>
            <a:chExt cx="812800" cy="86981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48235" y="3776486"/>
            <a:ext cx="508158" cy="543805"/>
            <a:chOff x="0" y="0"/>
            <a:chExt cx="812800" cy="86981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48235" y="6455730"/>
            <a:ext cx="508158" cy="543805"/>
            <a:chOff x="0" y="0"/>
            <a:chExt cx="812800" cy="86981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8235" y="5784877"/>
            <a:ext cx="508158" cy="543805"/>
            <a:chOff x="0" y="0"/>
            <a:chExt cx="812800" cy="86981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 dirty="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8235" y="7123361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48235" y="7790991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E796552-E8BF-2718-F921-20F9BAE7EE98}"/>
              </a:ext>
            </a:extLst>
          </p:cNvPr>
          <p:cNvSpPr txBox="1"/>
          <p:nvPr/>
        </p:nvSpPr>
        <p:spPr>
          <a:xfrm>
            <a:off x="152400" y="342900"/>
            <a:ext cx="1584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7E9E58-77B6-079D-9D0D-E380CADAD23D}"/>
              </a:ext>
            </a:extLst>
          </p:cNvPr>
          <p:cNvSpPr txBox="1"/>
          <p:nvPr/>
        </p:nvSpPr>
        <p:spPr>
          <a:xfrm>
            <a:off x="2209800" y="2230527"/>
            <a:ext cx="1508232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Campus events managed manually cause overbooking, data errors and poor experience.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TechNova 2025 is a React JS-based single-page web application for internal departmental ticket booking.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and faculty can view event details and book tickets through a validated form interface.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Razorpay payment gateway enables secure real-time transactions with QR code e-ticket generation.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Admin Dashboard provides real-time analytics, event management, and automated refund processing.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Student Dashboard lets users track registrations, purchased tickets, and competition history.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with React JS, Vite, and CSS3, the platform features a glassmorphism dark-mode UI with live animations.</a:t>
            </a:r>
          </a:p>
        </p:txBody>
      </p:sp>
      <p:grpSp>
        <p:nvGrpSpPr>
          <p:cNvPr id="6" name="Group 37">
            <a:extLst>
              <a:ext uri="{FF2B5EF4-FFF2-40B4-BE49-F238E27FC236}">
                <a16:creationId xmlns:a16="http://schemas.microsoft.com/office/drawing/2014/main" id="{E5F04D9D-308A-3183-6836-B0EC5388A6D1}"/>
              </a:ext>
            </a:extLst>
          </p:cNvPr>
          <p:cNvGrpSpPr/>
          <p:nvPr/>
        </p:nvGrpSpPr>
        <p:grpSpPr>
          <a:xfrm>
            <a:off x="14020800" y="-8142801"/>
            <a:ext cx="10994424" cy="10994424"/>
            <a:chOff x="0" y="0"/>
            <a:chExt cx="812800" cy="812800"/>
          </a:xfrm>
        </p:grpSpPr>
        <p:sp>
          <p:nvSpPr>
            <p:cNvPr id="7" name="Freeform 38">
              <a:extLst>
                <a:ext uri="{FF2B5EF4-FFF2-40B4-BE49-F238E27FC236}">
                  <a16:creationId xmlns:a16="http://schemas.microsoft.com/office/drawing/2014/main" id="{DD6C4498-CEE7-2D27-F0C3-97EBEC11E86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9">
              <a:extLst>
                <a:ext uri="{FF2B5EF4-FFF2-40B4-BE49-F238E27FC236}">
                  <a16:creationId xmlns:a16="http://schemas.microsoft.com/office/drawing/2014/main" id="{2238B763-36E8-D0F8-087D-09B56E0E974D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A8A7B8E9-D90B-1CF8-14D3-8D2483CAFC58}"/>
              </a:ext>
            </a:extLst>
          </p:cNvPr>
          <p:cNvSpPr txBox="1"/>
          <p:nvPr/>
        </p:nvSpPr>
        <p:spPr>
          <a:xfrm>
            <a:off x="0" y="1216416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709357" y="2648112"/>
            <a:ext cx="992463" cy="992463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376253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BDE2941C-1504-53F9-99B2-48002CA9A345}"/>
              </a:ext>
            </a:extLst>
          </p:cNvPr>
          <p:cNvSpPr txBox="1"/>
          <p:nvPr/>
        </p:nvSpPr>
        <p:spPr>
          <a:xfrm>
            <a:off x="2254166" y="2322734"/>
            <a:ext cx="1508232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Campus events are managed manually, leading to overbooking, data loss, and poor user experience.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automated system exists for internal departmental ticket booking within academic institutions.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platforms like BookMyShow and Ticketmaster charge high fees and are too complex for campus use.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cannot view live seat availability or receive instant booking confirmations.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Organizers lack a centralized dashboard to manage events, track registrations, and process refunds.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no integrated payment system with QR-code e-ticket generation for campus-level events.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lightweight, cost-free, purpose-built system tailored for academic institutions is needed.</a:t>
            </a:r>
          </a:p>
        </p:txBody>
      </p:sp>
      <p:grpSp>
        <p:nvGrpSpPr>
          <p:cNvPr id="3" name="Group 37">
            <a:extLst>
              <a:ext uri="{FF2B5EF4-FFF2-40B4-BE49-F238E27FC236}">
                <a16:creationId xmlns:a16="http://schemas.microsoft.com/office/drawing/2014/main" id="{2FF1B020-E599-4243-0745-94658C4B75D2}"/>
              </a:ext>
            </a:extLst>
          </p:cNvPr>
          <p:cNvGrpSpPr/>
          <p:nvPr/>
        </p:nvGrpSpPr>
        <p:grpSpPr>
          <a:xfrm>
            <a:off x="14020800" y="-8142801"/>
            <a:ext cx="10994424" cy="10994424"/>
            <a:chOff x="0" y="0"/>
            <a:chExt cx="812800" cy="812800"/>
          </a:xfrm>
        </p:grpSpPr>
        <p:sp>
          <p:nvSpPr>
            <p:cNvPr id="4" name="Freeform 38">
              <a:extLst>
                <a:ext uri="{FF2B5EF4-FFF2-40B4-BE49-F238E27FC236}">
                  <a16:creationId xmlns:a16="http://schemas.microsoft.com/office/drawing/2014/main" id="{8D5722D6-1AB3-AFC3-50FD-97E032A64A8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39">
              <a:extLst>
                <a:ext uri="{FF2B5EF4-FFF2-40B4-BE49-F238E27FC236}">
                  <a16:creationId xmlns:a16="http://schemas.microsoft.com/office/drawing/2014/main" id="{8C494B58-803A-A1A0-E7D1-2C6625F9E9EF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09357" y="3315742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5B915D36-EE4F-CB45-6DD3-E1B9C803EB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OBJECTIVE(S)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oup 37">
            <a:extLst>
              <a:ext uri="{FF2B5EF4-FFF2-40B4-BE49-F238E27FC236}">
                <a16:creationId xmlns:a16="http://schemas.microsoft.com/office/drawing/2014/main" id="{CF58B49F-CF64-89F9-D6CB-EEBCFCA5C762}"/>
              </a:ext>
            </a:extLst>
          </p:cNvPr>
          <p:cNvGrpSpPr/>
          <p:nvPr/>
        </p:nvGrpSpPr>
        <p:grpSpPr>
          <a:xfrm>
            <a:off x="14020800" y="-8142801"/>
            <a:ext cx="10994424" cy="10994424"/>
            <a:chOff x="0" y="0"/>
            <a:chExt cx="812800" cy="812800"/>
          </a:xfrm>
        </p:grpSpPr>
        <p:sp>
          <p:nvSpPr>
            <p:cNvPr id="4" name="Freeform 38">
              <a:extLst>
                <a:ext uri="{FF2B5EF4-FFF2-40B4-BE49-F238E27FC236}">
                  <a16:creationId xmlns:a16="http://schemas.microsoft.com/office/drawing/2014/main" id="{BFE0BB44-45F2-A4A6-9B89-0E8576D6182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Box 39">
              <a:extLst>
                <a:ext uri="{FF2B5EF4-FFF2-40B4-BE49-F238E27FC236}">
                  <a16:creationId xmlns:a16="http://schemas.microsoft.com/office/drawing/2014/main" id="{B7E50780-1EA1-5613-9DE5-1713C4D8E91F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C6502AF-CCC8-31E6-FA60-391BF4CC2DF4}"/>
              </a:ext>
            </a:extLst>
          </p:cNvPr>
          <p:cNvSpPr txBox="1"/>
          <p:nvPr/>
        </p:nvSpPr>
        <p:spPr>
          <a:xfrm>
            <a:off x="2133600" y="1804628"/>
            <a:ext cx="136191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and develop a React JS-based single-page ticket booking application for the TechNova 2025 internal departmental technical event.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real-time form validation, Razorpay payment gateway integration, and QR code e-ticket generation to automate the full booking flow.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 role-based dashboard — Student Dashboard for booking history and Admin Dashboard for event management, analytics, and automated refunds.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47">
            <a:extLst>
              <a:ext uri="{FF2B5EF4-FFF2-40B4-BE49-F238E27FC236}">
                <a16:creationId xmlns:a16="http://schemas.microsoft.com/office/drawing/2014/main" id="{E8F19716-1653-9AE0-442E-B3829A585B46}"/>
              </a:ext>
            </a:extLst>
          </p:cNvPr>
          <p:cNvSpPr txBox="1"/>
          <p:nvPr/>
        </p:nvSpPr>
        <p:spPr>
          <a:xfrm>
            <a:off x="2121379" y="1820896"/>
            <a:ext cx="13715999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TechNova 2025 is a React JS SPA with Vite build tool, featuring a glassmorphism dark-mode UI with animated grid backgrounds.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Multi-step booking flow: users select departments, ticket quantities, and up to 3 competitions before proceeding to payment.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Razorpay payment gateway integrated in Test Mode — supports card, UPI, and net banking with real-time payment verification.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QR Code E-Tickets generated automatically after successful payment — downloadable and scannable at entry.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Dashboard shows active registrations, purchased tickets, total spending, and registered competitions.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Dashboard provides live revenue analytics, total tickets sold, event creation/deletion, and full booking oversight.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refund logic — deleting an event cancels and refunds all associated student bookings automatically.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Outperforms existing platforms: zero service charges, purpose-built for campus use, instant browser deployment.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09357" y="3983373"/>
            <a:ext cx="992463" cy="992463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3315742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7218D14-8F44-8040-8BFD-49A59591F527}"/>
              </a:ext>
            </a:extLst>
          </p:cNvPr>
          <p:cNvSpPr txBox="1"/>
          <p:nvPr/>
        </p:nvSpPr>
        <p:spPr>
          <a:xfrm>
            <a:off x="25879" y="400481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 37">
            <a:extLst>
              <a:ext uri="{FF2B5EF4-FFF2-40B4-BE49-F238E27FC236}">
                <a16:creationId xmlns:a16="http://schemas.microsoft.com/office/drawing/2014/main" id="{4F283DDE-1616-62AE-4C34-D40B631B4EC7}"/>
              </a:ext>
            </a:extLst>
          </p:cNvPr>
          <p:cNvGrpSpPr/>
          <p:nvPr/>
        </p:nvGrpSpPr>
        <p:grpSpPr>
          <a:xfrm>
            <a:off x="14020800" y="-8142801"/>
            <a:ext cx="10994424" cy="10994424"/>
            <a:chOff x="0" y="0"/>
            <a:chExt cx="812800" cy="812800"/>
          </a:xfrm>
        </p:grpSpPr>
        <p:sp>
          <p:nvSpPr>
            <p:cNvPr id="3" name="Freeform 38">
              <a:extLst>
                <a:ext uri="{FF2B5EF4-FFF2-40B4-BE49-F238E27FC236}">
                  <a16:creationId xmlns:a16="http://schemas.microsoft.com/office/drawing/2014/main" id="{1277AC33-DE92-DEAD-3684-F9E584FE7CE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39">
              <a:extLst>
                <a:ext uri="{FF2B5EF4-FFF2-40B4-BE49-F238E27FC236}">
                  <a16:creationId xmlns:a16="http://schemas.microsoft.com/office/drawing/2014/main" id="{56B25065-0B92-DE42-94C2-2ECB8CBB349C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709357" y="4655766"/>
            <a:ext cx="992463" cy="99246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1509" y="3320505"/>
            <a:ext cx="508158" cy="543805"/>
            <a:chOff x="0" y="0"/>
            <a:chExt cx="812800" cy="86981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1509" y="1987111"/>
            <a:ext cx="508158" cy="543805"/>
            <a:chOff x="0" y="0"/>
            <a:chExt cx="812800" cy="8698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3988135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2652874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6430348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5764584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7088453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7756083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A4B3B85F-0C7B-16B9-6D50-94A4DFD2D192}"/>
              </a:ext>
            </a:extLst>
          </p:cNvPr>
          <p:cNvSpPr txBox="1"/>
          <p:nvPr/>
        </p:nvSpPr>
        <p:spPr>
          <a:xfrm>
            <a:off x="0" y="486639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ARCHITECTURE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F9D4B0-38FE-DBA4-164D-1745B68379A5}"/>
              </a:ext>
            </a:extLst>
          </p:cNvPr>
          <p:cNvSpPr txBox="1"/>
          <p:nvPr/>
        </p:nvSpPr>
        <p:spPr>
          <a:xfrm>
            <a:off x="2209800" y="2150000"/>
            <a:ext cx="15082325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b="1" dirty="0"/>
              <a:t>Input: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User login credentials, event selection, ticket quantity, competition choices, and Razorpay payment details.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Processing: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React JS functional components with useState/useContext hooks handle validation, state updates, and Razorpay checkout flow.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Storage (eventData.js):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In-memory mock database stores events, competitions, user bookings, and ticket availability — updated in real time.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Output: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Booking confirmation with QR code e-ticket; Admin dashboard with live revenue charts, booking table, and event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>
            <a:off x="735588" y="5318634"/>
            <a:ext cx="992463" cy="992463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77741" y="6425585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1B156733-A733-69AA-7523-59650E125994}"/>
              </a:ext>
            </a:extLst>
          </p:cNvPr>
          <p:cNvSpPr txBox="1"/>
          <p:nvPr/>
        </p:nvSpPr>
        <p:spPr>
          <a:xfrm>
            <a:off x="190500" y="315938"/>
            <a:ext cx="15811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4F3B99-A5D2-54DC-51CD-4E86A99D3EA2}"/>
              </a:ext>
            </a:extLst>
          </p:cNvPr>
          <p:cNvSpPr txBox="1"/>
          <p:nvPr/>
        </p:nvSpPr>
        <p:spPr>
          <a:xfrm>
            <a:off x="2209800" y="2150000"/>
            <a:ext cx="150823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b="1" dirty="0"/>
              <a:t>Step 1 — Authentication: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User registers or logs in. AuthContext identifies role (Student / Admin) and routes to the correct dashboard.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Step 2 — Event Browsing: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EventPage fetches event data from eventData.js and displays live seat availability with category filters.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Step 3 — Booking Form: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BookingPage collects name, email, department, ticket count, and up to 3 competition choices. validate() checks all fields.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Step 4 — Payment: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On valid submission, razorpayService.js opens the Razorpay checkout. Success callback stores booking and decrements seat count.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Step 5 — Confirmation: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BookingConfirmation renders a summary with a QR code e-ticket that the user can download as a digital pass.</a:t>
            </a:r>
          </a:p>
        </p:txBody>
      </p:sp>
      <p:grpSp>
        <p:nvGrpSpPr>
          <p:cNvPr id="2" name="Group 37">
            <a:extLst>
              <a:ext uri="{FF2B5EF4-FFF2-40B4-BE49-F238E27FC236}">
                <a16:creationId xmlns:a16="http://schemas.microsoft.com/office/drawing/2014/main" id="{5FF0B2D0-7843-1835-7081-F69B51BDD5B8}"/>
              </a:ext>
            </a:extLst>
          </p:cNvPr>
          <p:cNvGrpSpPr/>
          <p:nvPr/>
        </p:nvGrpSpPr>
        <p:grpSpPr>
          <a:xfrm>
            <a:off x="14020800" y="-8142801"/>
            <a:ext cx="10994424" cy="10994424"/>
            <a:chOff x="0" y="0"/>
            <a:chExt cx="812800" cy="812800"/>
          </a:xfrm>
        </p:grpSpPr>
        <p:sp>
          <p:nvSpPr>
            <p:cNvPr id="3" name="Freeform 38">
              <a:extLst>
                <a:ext uri="{FF2B5EF4-FFF2-40B4-BE49-F238E27FC236}">
                  <a16:creationId xmlns:a16="http://schemas.microsoft.com/office/drawing/2014/main" id="{1E43E843-CEEF-9B58-BAB6-E0FEFB947A9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39">
              <a:extLst>
                <a:ext uri="{FF2B5EF4-FFF2-40B4-BE49-F238E27FC236}">
                  <a16:creationId xmlns:a16="http://schemas.microsoft.com/office/drawing/2014/main" id="{B7A3D907-9F7C-D8D3-DE54-E07FC037F8C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9"/>
          <p:cNvGrpSpPr/>
          <p:nvPr/>
        </p:nvGrpSpPr>
        <p:grpSpPr>
          <a:xfrm>
            <a:off x="735588" y="5976927"/>
            <a:ext cx="992463" cy="992463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E4ED097B-FECF-66E6-2A98-0F8B4D948FC8}"/>
              </a:ext>
            </a:extLst>
          </p:cNvPr>
          <p:cNvSpPr txBox="1"/>
          <p:nvPr/>
        </p:nvSpPr>
        <p:spPr>
          <a:xfrm>
            <a:off x="152400" y="342900"/>
            <a:ext cx="1676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E9F5F9-CCF8-6F05-4C01-034C88D7529E}"/>
              </a:ext>
            </a:extLst>
          </p:cNvPr>
          <p:cNvSpPr txBox="1"/>
          <p:nvPr/>
        </p:nvSpPr>
        <p:spPr>
          <a:xfrm>
            <a:off x="2209800" y="2150000"/>
            <a:ext cx="15082325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b="1" dirty="0"/>
              <a:t>Frontend: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React JS (v18) — Functional components, useState, useContext, useEffect; Vite build tool; Custom CSS3 with CSS variables.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Backend: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No dedicated backend — all logic handled client-side via React hooks and in-memory eventData.js state management.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Database: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In-memory mock database (eventData.js) — stores events, bookings, competitions, and user data; resets on refresh.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Third-Party API: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Razorpay Checkout API (Test Mode) — card, UPI, net banking support; QR code generation for e-tickets.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Tools: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VS Code, Node.js (npm), Git, GitHub; Google Fonts (Orbitron + Sora); .env for API key management.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Hardware / Software Requirements: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Any modern browser (Chrome, Firefox); Node.js v18+; 4GB RAM minimum; Internet for Razorpay script loading.</a:t>
            </a:r>
          </a:p>
        </p:txBody>
      </p:sp>
      <p:grpSp>
        <p:nvGrpSpPr>
          <p:cNvPr id="2" name="Group 37">
            <a:extLst>
              <a:ext uri="{FF2B5EF4-FFF2-40B4-BE49-F238E27FC236}">
                <a16:creationId xmlns:a16="http://schemas.microsoft.com/office/drawing/2014/main" id="{4D847D41-4470-420F-942D-93587F92804D}"/>
              </a:ext>
            </a:extLst>
          </p:cNvPr>
          <p:cNvGrpSpPr/>
          <p:nvPr/>
        </p:nvGrpSpPr>
        <p:grpSpPr>
          <a:xfrm>
            <a:off x="14401800" y="-2955537"/>
            <a:ext cx="10994424" cy="10994424"/>
            <a:chOff x="0" y="0"/>
            <a:chExt cx="812800" cy="812800"/>
          </a:xfrm>
        </p:grpSpPr>
        <p:sp>
          <p:nvSpPr>
            <p:cNvPr id="3" name="Freeform 38">
              <a:extLst>
                <a:ext uri="{FF2B5EF4-FFF2-40B4-BE49-F238E27FC236}">
                  <a16:creationId xmlns:a16="http://schemas.microsoft.com/office/drawing/2014/main" id="{A4FD480D-1445-2C4B-DB46-82271E5DF7B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39">
              <a:extLst>
                <a:ext uri="{FF2B5EF4-FFF2-40B4-BE49-F238E27FC236}">
                  <a16:creationId xmlns:a16="http://schemas.microsoft.com/office/drawing/2014/main" id="{26A1CA4A-B4D1-F4E6-0933-879F4CA7F8FA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A1BCE7C-890E-A01E-691E-1D3D07CF6333}"/>
              </a:ext>
            </a:extLst>
          </p:cNvPr>
          <p:cNvSpPr txBox="1"/>
          <p:nvPr/>
        </p:nvSpPr>
        <p:spPr>
          <a:xfrm>
            <a:off x="152400" y="342900"/>
            <a:ext cx="1569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04C197-EAC7-7A26-FAED-ED7302DBEC6E}"/>
              </a:ext>
            </a:extLst>
          </p:cNvPr>
          <p:cNvSpPr txBox="1"/>
          <p:nvPr/>
        </p:nvSpPr>
        <p:spPr>
          <a:xfrm>
            <a:off x="2209800" y="2150000"/>
            <a:ext cx="15082325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b="1" dirty="0"/>
              <a:t>Module 1: User Authentication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Handles student and admin login via AuthContext.jsx. Role-based routing redirects users to Student Dashboard or Admin Panel.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Module 2: Event Details Module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EventDetails.jsx displays event name, department, date, time, venue, ticket price, and live seat availability with colour-coded progress bar.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Module 3: Ticket Booking Module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BookingPage.jsx provides a multi-step form with full input validation — name, email, department, quantity, and competition selection.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Module 4: Payment &amp; E-Ticket (Innovative Module)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Razorpay Checkout integration with real-time payment verification. ETicket.jsx generates a scannable QR code downloadable pass on success.</a:t>
            </a:r>
          </a:p>
          <a:p>
            <a:pPr marL="457200" indent="-457200">
              <a:buFontTx/>
              <a:buChar char="-"/>
            </a:pPr>
            <a:r>
              <a:rPr lang="en-US" sz="2800" b="1" dirty="0"/>
              <a:t>Module 5: Admin Dashboard &amp; Analytics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AdminPage.jsx shows live revenue charts (Charts.jsx), total registrations, event creation/deletion, and automated refund processing.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FBA1B-7EE7-47B6-41F3-C4B61A97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D8CD5C70-566B-9213-9F31-546BB621CCAF}"/>
              </a:ext>
            </a:extLst>
          </p:cNvPr>
          <p:cNvGrpSpPr/>
          <p:nvPr/>
        </p:nvGrpSpPr>
        <p:grpSpPr>
          <a:xfrm>
            <a:off x="1192788" y="67300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EBAE7EB-82E8-3AF5-3C43-EA7688F7325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5294143A-C171-B89D-02DF-136CB32B43C9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811A371D-2A07-AABC-E66C-143D37E0F12C}"/>
              </a:ext>
            </a:extLst>
          </p:cNvPr>
          <p:cNvGrpSpPr/>
          <p:nvPr/>
        </p:nvGrpSpPr>
        <p:grpSpPr>
          <a:xfrm>
            <a:off x="1434941" y="33919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F7BDC7D-6911-7D85-E73A-2061DE32440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6DEA2241-E6A3-8051-F424-21070A5DF29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4DD3D6A9-1C97-9943-C984-B50356BAE3FF}"/>
              </a:ext>
            </a:extLst>
          </p:cNvPr>
          <p:cNvGrpSpPr/>
          <p:nvPr/>
        </p:nvGrpSpPr>
        <p:grpSpPr>
          <a:xfrm>
            <a:off x="1434941" y="20585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BB1489C-F4F8-D62E-3AD9-3CAA028A426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4A64A6E-EA7C-DFF0-C280-5041CD8B135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BE5FF856-5043-C428-B45A-4C00BF9D3418}"/>
              </a:ext>
            </a:extLst>
          </p:cNvPr>
          <p:cNvGrpSpPr/>
          <p:nvPr/>
        </p:nvGrpSpPr>
        <p:grpSpPr>
          <a:xfrm>
            <a:off x="1434941" y="40595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CFC7AF72-B76A-8AD8-7E70-BDE8837D662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F6C277EF-EDEF-0F79-B4B2-AB1B3E58301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A32CD2C6-1D06-729E-1157-B2EAAEA172A4}"/>
              </a:ext>
            </a:extLst>
          </p:cNvPr>
          <p:cNvGrpSpPr/>
          <p:nvPr/>
        </p:nvGrpSpPr>
        <p:grpSpPr>
          <a:xfrm>
            <a:off x="1434941" y="27243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222D7EA-F7CE-B4F5-4D06-02860C5AC3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17F695A3-7B3D-00FE-26D6-E53B473BCF1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A8D3527-DD17-232E-3ECB-BDBFC0FF3DE7}"/>
              </a:ext>
            </a:extLst>
          </p:cNvPr>
          <p:cNvGrpSpPr/>
          <p:nvPr/>
        </p:nvGrpSpPr>
        <p:grpSpPr>
          <a:xfrm>
            <a:off x="1434941" y="53948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1C3EBC87-5F86-657B-5C0D-7DFFB3C4281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5638183B-03CC-91E5-1C67-EAD126FB6DA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8C4C8B82-0B52-9912-DBAF-71546B2F401E}"/>
              </a:ext>
            </a:extLst>
          </p:cNvPr>
          <p:cNvGrpSpPr/>
          <p:nvPr/>
        </p:nvGrpSpPr>
        <p:grpSpPr>
          <a:xfrm>
            <a:off x="1434941" y="47272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371F41C0-C399-6E94-B393-623F6ED78C3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05375A05-CD15-FECF-CF37-72BD8B495C3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FFA9D0CA-D989-1DF0-9CD9-7BB1BF37D00D}"/>
              </a:ext>
            </a:extLst>
          </p:cNvPr>
          <p:cNvGrpSpPr/>
          <p:nvPr/>
        </p:nvGrpSpPr>
        <p:grpSpPr>
          <a:xfrm>
            <a:off x="1434941" y="60624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6D72D40E-C3C8-1774-56F7-396EA1F5463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2A94558C-EEEF-6159-C648-7ED1F2545B1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A8A0868D-7450-B2DC-5A6A-A607E39122E3}"/>
              </a:ext>
            </a:extLst>
          </p:cNvPr>
          <p:cNvGrpSpPr/>
          <p:nvPr/>
        </p:nvGrpSpPr>
        <p:grpSpPr>
          <a:xfrm>
            <a:off x="1434941" y="78370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27C0AD0-E7DC-50B1-90B8-A6B2DA72DDA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9B60539C-7696-ACA6-9070-BC481578187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5" name="Group 35">
            <a:extLst>
              <a:ext uri="{FF2B5EF4-FFF2-40B4-BE49-F238E27FC236}">
                <a16:creationId xmlns:a16="http://schemas.microsoft.com/office/drawing/2014/main" id="{B814A5FC-F17C-8D1A-04C8-1ED6A2AE0E65}"/>
              </a:ext>
            </a:extLst>
          </p:cNvPr>
          <p:cNvGrpSpPr/>
          <p:nvPr/>
        </p:nvGrpSpPr>
        <p:grpSpPr>
          <a:xfrm>
            <a:off x="17627870" y="-1023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2EC11913-1FC3-79C0-FB94-72486D9673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6CB89B22-25E1-321C-5A74-15CF8EBC7CA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35C6402D-9C63-51C1-99A9-4206C0537740}"/>
              </a:ext>
            </a:extLst>
          </p:cNvPr>
          <p:cNvSpPr txBox="1"/>
          <p:nvPr/>
        </p:nvSpPr>
        <p:spPr>
          <a:xfrm>
            <a:off x="609600" y="419100"/>
            <a:ext cx="15987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C6A4DA-6D4B-3E6A-CF92-E543DD7AFBF5}"/>
              </a:ext>
            </a:extLst>
          </p:cNvPr>
          <p:cNvSpPr txBox="1"/>
          <p:nvPr/>
        </p:nvSpPr>
        <p:spPr>
          <a:xfrm>
            <a:off x="2820413" y="2769634"/>
            <a:ext cx="139301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screenshot: Home Page — TechNova 2025 landing page with countdown timer, seat counter, and Book Ticket / View Details buttons.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screenshot: Login Page — Dark-themed sign-in form with email/password validation and role-based redirect.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screenshot: Booking Page — Multi-step checkout showing department selector, ticket count, competition picker, and Razorpay modal.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screenshot: QR Code E-Ticket — Booking confirmation modal with attendee summary and downloadable QR code e-ticket.</a:t>
            </a:r>
          </a:p>
        </p:txBody>
      </p:sp>
    </p:spTree>
    <p:extLst>
      <p:ext uri="{BB962C8B-B14F-4D97-AF65-F5344CB8AC3E}">
        <p14:creationId xmlns:p14="http://schemas.microsoft.com/office/powerpoint/2010/main" val="1998101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F319D-58F2-DF9E-632A-90472F5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ADE101F0-A2BF-16E8-7BEC-541911EA9510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43B1E5B-104E-DCD5-F042-8DABFE8225A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846A8601-B4CB-7C78-2833-947EEC356CD7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8(A)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1C63788E-DB35-987D-1A89-4C3F169DF70E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76646B6-C6D6-F677-3CA9-56BE5CE444A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3CDDAA79-D530-F622-0CC8-ECE3E95F952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8227745F-FD1B-7135-E88E-D6B924C5CB24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79292FA3-A80E-1540-0024-754AADCDB01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5A8C7117-591A-F089-5F54-0229077FDEA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29278237-7990-A997-2285-EB2F5BB4EF44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F37C1434-DB0E-53EF-4140-56A0F3CD6EA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4FC388C1-59EC-CA17-BA41-9AF3AAD42D8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90F65A21-E49B-9858-6EAD-EBC3142E623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EFDE14F0-9F59-E35F-B5B7-45C77C56354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E1181869-B448-2B7A-67F5-160B09C76D9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8B27AB66-420C-E7D0-5891-910B564CA2C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F0605CE2-624E-D2DA-6357-65C5FA138C6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DA9B1286-A8A4-091B-5AF9-F0B275F703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127DF020-AEA7-8D57-9411-90D58D65D05B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00BA2729-D580-CF8D-87CD-EE786F2E40E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F0B6F8BA-7047-AE2A-DB03-E6846F9FAEA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5DE7324-71F9-1D79-AB1E-F97481653389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E780ED4E-44DF-E344-CCEA-834D1374F6A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AC7D9CD8-E54E-AD67-D59B-5D4A37A1B41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3560347-DE50-10F7-9905-7228E593D28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1B9E463A-B010-8D72-6350-7242CB0AAF5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C15BE220-858E-1446-5B56-D3329A06A99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5" name="Group 35">
            <a:extLst>
              <a:ext uri="{FF2B5EF4-FFF2-40B4-BE49-F238E27FC236}">
                <a16:creationId xmlns:a16="http://schemas.microsoft.com/office/drawing/2014/main" id="{A36A5C58-00A3-2FE9-36E4-D92AAF44A0F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BADF0EED-F663-F70E-9BB3-C0F576114D0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54542349-F329-7DA6-DBD4-7EFA939B989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6CAD810-8433-9B89-E144-29986E25063F}"/>
              </a:ext>
            </a:extLst>
          </p:cNvPr>
          <p:cNvSpPr txBox="1"/>
          <p:nvPr/>
        </p:nvSpPr>
        <p:spPr>
          <a:xfrm>
            <a:off x="152400" y="342900"/>
            <a:ext cx="16306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F2C30-13B1-3754-C147-D58A899BC459}"/>
              </a:ext>
            </a:extLst>
          </p:cNvPr>
          <p:cNvSpPr txBox="1"/>
          <p:nvPr/>
        </p:nvSpPr>
        <p:spPr>
          <a:xfrm>
            <a:off x="2209800" y="1638300"/>
            <a:ext cx="15082325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/>
              <a:t>TechNova 2025 — Home Page</a:t>
            </a:r>
          </a:p>
          <a:p>
            <a:r>
              <a:rPr lang="en-US" sz="2800" dirty="0"/>
              <a:t>The landing page features a live countdown timer, real-time seat counter, and animated glassmorphism dark background. Users can click Book Ticket to start the booking flow or View Details to browse events.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6EAE66-B223-0E58-5642-32A73BB0C6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3221499"/>
            <a:ext cx="12067834" cy="651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87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4F051-5473-4E78-FEB2-59A87A5F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66BE183E-F015-FFD4-5C84-C25B4DCE490A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AEC1772-D597-ACC7-7EF1-FF0460F37AA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46839344-8B05-5C56-F0B1-64E24F458991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8(B)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23B54700-9ABF-8EDD-8B21-24A9248C534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99246F8-F6B5-2F2E-2FB4-FAE1DD41DCC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B7CDDD7B-8A9B-223F-951A-473D0C9404F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B3E1A8FC-D0F1-BD05-9C14-C10EAE95E57E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CEB5FB4E-3BF3-BC6A-6692-FE375141E45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38F8F103-F0A5-8F95-A139-8DBEBEF19C2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C558648-2D59-16EB-3098-EAF5DE978B1F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168779D-5467-4E78-AD1E-36B5A75A347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8AFC0BB4-20A4-849D-A1E4-FA90A8DDCC7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700D33AC-D53D-0E96-8752-E5DA06AE57A5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14DABAFB-38B3-CE49-B21D-A496D7EC2A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BE27A610-3BC0-BFBC-2A61-4C157B024EF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6C0E28B4-531C-D2E1-F3C9-B5A98A28B69D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C193347-3923-7F1F-A580-A7462B158EC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C5DDC20D-7BD0-E255-26F1-86A88AF67CF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9DBB21A1-CAFF-686E-D181-980219283F7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5531A9C5-B561-53EA-BF9A-3BE6A607C1B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D8870C21-3327-4D63-FD34-36BC479967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4D7C3EBE-FA20-7E4C-13DD-84F1A98618F6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C1E3AE62-1B2B-FE1E-010C-A26C4F613A6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CDA04BD5-C99C-980C-6593-EDEA378D6C3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77207A6-9552-432B-0793-EB6A88EE3C1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7447A1E-BA0C-26C0-C743-E590A55A653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8D425BCC-6A0F-30CB-18E7-D1E21E871D9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5" name="Group 35">
            <a:extLst>
              <a:ext uri="{FF2B5EF4-FFF2-40B4-BE49-F238E27FC236}">
                <a16:creationId xmlns:a16="http://schemas.microsoft.com/office/drawing/2014/main" id="{C7CF20EF-980A-2D88-E968-DCB5B8BC6CF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A7A686B7-4E4C-A5FA-60CD-A6EFF9DEAD8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3ECD8D52-6368-578C-BEB2-0B1BA37FD45D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38323CF-7DCB-075F-B739-0F88472F060D}"/>
              </a:ext>
            </a:extLst>
          </p:cNvPr>
          <p:cNvSpPr txBox="1"/>
          <p:nvPr/>
        </p:nvSpPr>
        <p:spPr>
          <a:xfrm>
            <a:off x="152400" y="342900"/>
            <a:ext cx="16306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0EA81E-D408-1A06-6895-1BF3CA09E497}"/>
              </a:ext>
            </a:extLst>
          </p:cNvPr>
          <p:cNvSpPr txBox="1"/>
          <p:nvPr/>
        </p:nvSpPr>
        <p:spPr>
          <a:xfrm>
            <a:off x="1909306" y="1600804"/>
            <a:ext cx="685414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2800" dirty="0"/>
              <a:t>Admin Dashboard -- Admin to Dashboard Control with event management tools.</a:t>
            </a:r>
          </a:p>
          <a:p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669F5E-D683-06DA-6F1A-B1A71266369B}"/>
              </a:ext>
            </a:extLst>
          </p:cNvPr>
          <p:cNvSpPr txBox="1"/>
          <p:nvPr/>
        </p:nvSpPr>
        <p:spPr>
          <a:xfrm>
            <a:off x="9684320" y="1612778"/>
            <a:ext cx="725083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2800" dirty="0"/>
              <a:t>Student Login — Email and password sign-in with role detection; invalid credentials trigger inline error messages.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692DFD-6E98-89D6-2A9C-89F636006C8F}"/>
              </a:ext>
            </a:extLst>
          </p:cNvPr>
          <p:cNvCxnSpPr/>
          <p:nvPr/>
        </p:nvCxnSpPr>
        <p:spPr>
          <a:xfrm>
            <a:off x="9448800" y="1697977"/>
            <a:ext cx="0" cy="74841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F996CBD2-5038-B868-FDDA-689A4C0088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4147" y="3613007"/>
            <a:ext cx="7277556" cy="4883294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5E05BEEB-1BB7-18A2-9D9A-115303820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285" y="3613008"/>
            <a:ext cx="7249987" cy="488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4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2AA6E-1A8C-A42D-344E-C811AB58A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EB7F1E1F-336A-607D-2868-6C57FF54EB44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3528BA9-EE0E-A6F8-4A8C-6DFC964B206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E25C449-B344-E643-12F7-C89DEE4255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4C22D2BC-F5CA-423B-6FD6-94172693045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6670B32-1168-757A-3D40-FDD55687DCF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0D3BB7FD-57C6-C09A-D875-135D505A8E1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067A86AC-A2D1-3F33-5857-9F69983F71BB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9EADC3C-D136-0700-9300-4D8E867EC53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8EAD5F3-3FC4-819A-6ECD-0BC55C92A2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1671F77B-B3A5-F8B6-AC67-6EF88CA95877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1303025A-EF3E-710E-2DBD-D89F29B8499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76E7D281-CC96-92C2-C2F7-583674F0609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E0D02FED-C5F4-9CC7-F1F5-E75E542840A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384D1E33-434F-2FA0-56CC-F24058D8639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F2FC0DCA-FB2A-610C-A8DB-76CE251A57D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4CA1DB61-05A2-042F-9815-00DBC40D0556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7E4E958-360B-28EF-052B-EDDBDD5F40F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BEDBF5CC-2720-E821-001C-11BCB7273E2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6B96629A-6996-B0D7-13D6-0FA011422666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912F1ED8-E3AD-E90A-10CE-D50A8F7D91A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00E45F23-6E8F-F601-2EB3-537A898E704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A40D6715-3580-0B1B-2305-C7ED6083AE85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11A59530-4B7F-6C6B-290E-578EA30200D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9BDCE736-251A-5B70-853E-A0A9A174F36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8249BDCF-E07B-269B-D039-A4360C0FE2B4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6F6B04FD-3FAC-90A2-4C1A-D809D058C0A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BEE5C092-697C-26F6-D6E0-477F151E7CA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5" name="Group 35">
            <a:extLst>
              <a:ext uri="{FF2B5EF4-FFF2-40B4-BE49-F238E27FC236}">
                <a16:creationId xmlns:a16="http://schemas.microsoft.com/office/drawing/2014/main" id="{2E8D2AB5-8B00-D9B4-469D-07CAE4ECF9C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F9F17E25-114F-438B-701A-7788D333F33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1C4B6667-B2EE-BA32-402F-04368D88D5C4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B953180-DB27-F046-86E3-E3508247B406}"/>
              </a:ext>
            </a:extLst>
          </p:cNvPr>
          <p:cNvSpPr txBox="1"/>
          <p:nvPr/>
        </p:nvSpPr>
        <p:spPr>
          <a:xfrm>
            <a:off x="152400" y="342900"/>
            <a:ext cx="15773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1A1FDE-E3AB-682A-64B7-DA145F23EB91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952C58-8480-45AF-A322-6DBD647D1E15}"/>
              </a:ext>
            </a:extLst>
          </p:cNvPr>
          <p:cNvSpPr txBox="1"/>
          <p:nvPr/>
        </p:nvSpPr>
        <p:spPr>
          <a:xfrm>
            <a:off x="2209800" y="1638300"/>
            <a:ext cx="15082325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/>
              <a:t>Events Page — Browse &amp; Register</a:t>
            </a:r>
          </a:p>
          <a:p>
            <a:r>
              <a:rPr lang="en-US" sz="2800" dirty="0"/>
              <a:t>The Events Page displays all available events as cards with category tags, seat availability, date, time, and venue. Students click View and Register to begin booking.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E64454-6C52-5A14-117A-225F842793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194" y="3289859"/>
            <a:ext cx="12339126" cy="6378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89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ADB03-5949-76CF-730D-FE5AC6B0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0341F564-4633-428C-1F61-C503FD5273F1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1FA13A8-928A-9F16-48B2-4EDC4C148B0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23C684A6-1477-B610-0A9F-CDE5A866C9C7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BFD91F5-CD9A-E8BA-7FF7-B828C51DBDAA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1D3B593-5A0E-46DF-756F-9A6B7242137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946D6BE-BC77-E9AB-16E6-CEAE4EC0386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B9330135-71E2-ADA0-7F41-06E42DB5D58F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BFA87DBC-CC89-B390-A600-F2BCC5965AD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ECA32750-0933-E1A1-02FD-38092240BB6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6C689BC3-874A-43DE-7ADA-76D7D45F17BE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3AAAE51B-4974-D365-CB1C-3417B949CB4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9D04FC35-9F18-F798-684B-6BBE67C4701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5670C5D5-4C3F-1D22-E9E5-0681D9C0FF3F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CDB16E9D-BC44-D564-5FDF-928384F97CD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CB15F0F5-9239-83CF-3B8C-609163E6FF0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80567A03-29B2-4F9E-E631-36FE41FB4BC1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3A0904EA-F016-AFDC-A93E-B4FBF8DF5EC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1D2E5C0B-6A56-6C5E-3BFF-5914EABDA1A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C49E1BF9-01E4-4D78-0B81-1515246F3BDF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7A615322-55A4-6B71-EFFE-393EDD590EA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89A62FE6-6F7A-31CB-33FC-4089D50C8E8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9E5E3F7C-D94E-AEED-EB88-5EF146652DE9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1F97EDCC-00E9-DB52-74AC-0D01F0EF633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487E87BA-4DFA-76C8-6EE6-6878BA06A52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2C2200B9-01A2-94A2-1F5B-1D6A25073A7A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926722E-12F6-5180-2638-ACFB885B5AA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8EC42E6E-8AD6-04E2-8BD4-7FBD7CBDD24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5" name="Group 35">
            <a:extLst>
              <a:ext uri="{FF2B5EF4-FFF2-40B4-BE49-F238E27FC236}">
                <a16:creationId xmlns:a16="http://schemas.microsoft.com/office/drawing/2014/main" id="{72E90A24-DC79-6DE6-2922-BC4E3DF1ABCE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36050E7B-D09F-A7E8-04A5-30F04395C26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BA8DA712-CF93-8857-BCB8-2E1D0BE7153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1063915-37FA-F966-5F01-81884DC752A6}"/>
              </a:ext>
            </a:extLst>
          </p:cNvPr>
          <p:cNvSpPr txBox="1"/>
          <p:nvPr/>
        </p:nvSpPr>
        <p:spPr>
          <a:xfrm>
            <a:off x="152400" y="342900"/>
            <a:ext cx="15987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2051EF-BCD0-491C-2351-0C381CC19775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A83030-2F2A-8C96-2FEF-10234ABBF003}"/>
              </a:ext>
            </a:extLst>
          </p:cNvPr>
          <p:cNvSpPr txBox="1"/>
          <p:nvPr/>
        </p:nvSpPr>
        <p:spPr>
          <a:xfrm>
            <a:off x="2209800" y="1638300"/>
            <a:ext cx="15082325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/>
              <a:t>Booking &amp; Razorpay Payment Module</a:t>
            </a:r>
          </a:p>
          <a:p>
            <a:r>
              <a:rPr lang="en-US" sz="2800" dirty="0"/>
              <a:t>The Booking Page collects user details and validates all inputs. On confirmation, the Razorpay checkout modal opens for secure payment. A success screen shows the transaction ID and redirects to the e-ticket.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53E36D-CF02-70F7-444C-8166244299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446" y="3808564"/>
            <a:ext cx="12039600" cy="5665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07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31A08-FC7E-E512-85E3-5A8DF3EBA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0BB2DCE9-09B2-3827-0C54-7250AFB7359C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2DCF036-D101-249B-C54F-D58E4E597AB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8D1170D6-06BB-DFFF-2477-50FD484405A4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3785E3DA-43D7-6E2B-749D-244B47A44AF5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1087445-13BC-A3C2-4EAB-172A2DFF827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3D6BC875-4EF7-1E48-E27F-CD2CB9084C9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9A246BAE-7768-85A5-769E-DD4E0EC948CC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D5386C6-D378-1F86-3A74-665CAF7093C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5388E6EA-CC2C-1138-B38D-334C1FAC676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4FAEF74E-26CF-34A1-C455-EACB215CD50D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8D273E81-3F09-3E12-65AB-91ACBC666CE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50AFF68D-04DA-05F5-EEFC-F8696BEA8B6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91E02272-B02D-8927-8DE9-30A71B1B5C03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D15D95B6-3A29-FC02-EB48-9FEF5DF2BE2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7EE3B5F9-3E74-DB4B-8449-14B55FBC13D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379B76B1-565E-D6B4-A58D-F5B455AB933C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802AF821-05F9-F6C8-352E-991A3B7F530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B17ECA61-F265-684D-5BC5-25BD519341D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8249936D-46DB-340A-ADF8-78F415479855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A2C15C50-2FF6-0A35-9919-1804313CC71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23C08F9B-98FC-EAA8-F170-9DFC72F1E2D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6B638819-E938-92E6-85E3-83DB4781E6AD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8A0F2E00-1F56-DA43-BC39-CF1D23BBE2D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22574F49-B0CA-ABD8-06B6-8B63313AC83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59DF8B14-A995-2A5D-D49A-5FEB6109B7AC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E9DDC544-CFB7-FF35-C651-90DB255994C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5519A7CF-36B0-E5DF-CA4C-E3305A017B1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5" name="Group 35">
            <a:extLst>
              <a:ext uri="{FF2B5EF4-FFF2-40B4-BE49-F238E27FC236}">
                <a16:creationId xmlns:a16="http://schemas.microsoft.com/office/drawing/2014/main" id="{9A1EE6FB-E3CE-2D3B-EEF8-29E237D90D77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2ED029D1-9105-EAFF-D51D-80FFB3E7888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A37FCF64-A25F-B7B1-3231-F0ED02AB601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25A7B4E-B6B6-4A34-72D3-B680576DECA5}"/>
              </a:ext>
            </a:extLst>
          </p:cNvPr>
          <p:cNvSpPr txBox="1"/>
          <p:nvPr/>
        </p:nvSpPr>
        <p:spPr>
          <a:xfrm>
            <a:off x="152400" y="342900"/>
            <a:ext cx="16306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6598B5-E12E-2312-2D11-26F42AEFD3F5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A4B2BB-27EE-9136-DC70-3E3D3A0AB764}"/>
              </a:ext>
            </a:extLst>
          </p:cNvPr>
          <p:cNvSpPr txBox="1"/>
          <p:nvPr/>
        </p:nvSpPr>
        <p:spPr>
          <a:xfrm>
            <a:off x="2209800" y="1638300"/>
            <a:ext cx="15082325" cy="7109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3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QR Code E-Ticket —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Innovative Module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Upon successful Razorpay payment, ETicket.jsx generates a digital ticket containing attendee details, event name, seat number, and a unique scannable QR code. Users can download it as a digital pass for event entry.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4EA32A-1586-B669-2409-87CBB29BDA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4152900"/>
            <a:ext cx="8915400" cy="5220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987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BAB55-7601-3C41-6F10-EE0F67F77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B9E2C662-B058-485B-BFC3-199F93F6D154}"/>
              </a:ext>
            </a:extLst>
          </p:cNvPr>
          <p:cNvGrpSpPr/>
          <p:nvPr/>
        </p:nvGrpSpPr>
        <p:grpSpPr>
          <a:xfrm>
            <a:off x="735588" y="7321525"/>
            <a:ext cx="992463" cy="992463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25CA7A-BCD4-5B7F-7069-AE7F5BD10A9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7E08158-57E2-530C-A7FD-5AF72088CF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B09EB64-B1EE-DA7A-E7DC-97163FE53167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B04A57D-53E9-134E-70C7-51485932A21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C0A25AD-0459-BAEA-2E7B-0D9279AE1BC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0EBC171-BEE8-2D5E-8755-EE50B2570259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4000A93-AB8F-B573-E218-7434988FD58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228826C-BC2E-0DA0-107F-341F9D1A494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7FD594E4-E181-FD3B-1C72-DE2D718C274A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C16DA90C-521A-EFE9-8EE9-CB3967A5095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5A678428-7466-DB88-0126-41232DE4A0D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1D279A8-BDAA-B12E-DD4B-9978E9D5005C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08F1BB3-7F58-DE0C-71F1-9782E09061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5F43F9B-B904-0414-7AA7-1E7959C4C9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311E9EBB-A9CE-A64F-FF44-F82C0D52AC3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DED3A9EA-E50F-553B-EDAA-87F95FD2280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7E9C7CEA-D993-4107-0776-54AC90E2062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7B397A27-1CC9-9661-DA24-10B3E104239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2A8CD899-9C63-11A3-805F-4CA0E12C7CB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1976C224-9A36-532E-5E8B-B738C9FBC3F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E8CFE39F-6666-6E69-8980-5B55F6D56478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F859737D-AFDF-BDFC-6651-3B954F2DD4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B7B59B44-AD68-1549-9F86-A09D82459B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3FACABC2-D51C-1EF5-0D1B-34B410283F2E}"/>
              </a:ext>
            </a:extLst>
          </p:cNvPr>
          <p:cNvGrpSpPr/>
          <p:nvPr/>
        </p:nvGrpSpPr>
        <p:grpSpPr>
          <a:xfrm>
            <a:off x="977741" y="6653894"/>
            <a:ext cx="508158" cy="543805"/>
            <a:chOff x="0" y="0"/>
            <a:chExt cx="812800" cy="869819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6DD43112-BD1E-86D9-D9C6-3C97559FC56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C34845E4-4A4B-0A81-5A55-14004816579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4" name="Group 44">
            <a:extLst>
              <a:ext uri="{FF2B5EF4-FFF2-40B4-BE49-F238E27FC236}">
                <a16:creationId xmlns:a16="http://schemas.microsoft.com/office/drawing/2014/main" id="{FBD0A79F-CA0B-2560-37ED-E07624B11027}"/>
              </a:ext>
            </a:extLst>
          </p:cNvPr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id="{25583CD3-FA12-1B53-043B-9FE4E18BA02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TextBox 46">
              <a:extLst>
                <a:ext uri="{FF2B5EF4-FFF2-40B4-BE49-F238E27FC236}">
                  <a16:creationId xmlns:a16="http://schemas.microsoft.com/office/drawing/2014/main" id="{FA405478-0BA8-4A85-A81A-B9346174FE6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C926643-39EA-932E-6755-230476B3078D}"/>
              </a:ext>
            </a:extLst>
          </p:cNvPr>
          <p:cNvSpPr txBox="1"/>
          <p:nvPr/>
        </p:nvSpPr>
        <p:spPr>
          <a:xfrm>
            <a:off x="190500" y="290493"/>
            <a:ext cx="161229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&amp; LIMITATIONS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0" name="AdvantagesBox"/>
          <p:cNvSpPr txBox="1"/>
          <p:nvPr/>
        </p:nvSpPr>
        <p:spPr>
          <a:xfrm>
            <a:off x="1838979" y="1879510"/>
            <a:ext cx="15096489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Zero-cost, purpose-built solution — no service charges unlike BookMyShow or Ticketmaster.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state updates via React useState — instant UI refresh without page reloads.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Razorpay payment integration with QR code e-ticket generation on successful booking.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Modular React component architecture — easy to maintain, extend, and deploy on any static host.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automated refund processing — deleting an event cancels all associated bookings instantly.</a:t>
            </a:r>
          </a:p>
          <a:p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000" b="1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In-memory state resets on page refresh — no persistent database storage in the base system.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backend server — cannot scale to large concurrent users without Node.js and MySQL integration.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Email/SMS notifications and cloud deployment not yet implemented in the current version.</a:t>
            </a:r>
          </a:p>
        </p:txBody>
      </p:sp>
    </p:spTree>
    <p:extLst>
      <p:ext uri="{BB962C8B-B14F-4D97-AF65-F5344CB8AC3E}">
        <p14:creationId xmlns:p14="http://schemas.microsoft.com/office/powerpoint/2010/main" val="1838976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3"/>
          <p:cNvSpPr txBox="1"/>
          <p:nvPr/>
        </p:nvSpPr>
        <p:spPr>
          <a:xfrm>
            <a:off x="3200400" y="4486172"/>
            <a:ext cx="11159653" cy="131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149"/>
              </a:lnSpc>
            </a:pPr>
            <a:r>
              <a:rPr lang="en-US" sz="11153" b="1" i="1" dirty="0">
                <a:solidFill>
                  <a:srgbClr val="191919"/>
                </a:solidFill>
                <a:latin typeface="Gotham Bold Italics"/>
                <a:ea typeface="Gotham Bold Italics"/>
                <a:cs typeface="Gotham Bold Italics"/>
                <a:sym typeface="Gotham Bold Italics"/>
              </a:rPr>
              <a:t>Thank you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1625</Words>
  <Application>Microsoft Office PowerPoint</Application>
  <PresentationFormat>Custom</PresentationFormat>
  <Paragraphs>326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Cambria</vt:lpstr>
      <vt:lpstr>Arial</vt:lpstr>
      <vt:lpstr>Gotham</vt:lpstr>
      <vt:lpstr>Gotham Bold Italics</vt:lpstr>
      <vt:lpstr>Times New Roman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Orange Simple Portfolio Presentation</dc:title>
  <dc:creator>Navadeep Krishna</dc:creator>
  <cp:lastModifiedBy>Navadeep Krishna</cp:lastModifiedBy>
  <cp:revision>15</cp:revision>
  <dcterms:created xsi:type="dcterms:W3CDTF">2006-08-16T00:00:00Z</dcterms:created>
  <dcterms:modified xsi:type="dcterms:W3CDTF">2026-05-05T19:16:58Z</dcterms:modified>
  <dc:identifier>DAHCaYqJ9OU</dc:identifier>
</cp:coreProperties>
</file>